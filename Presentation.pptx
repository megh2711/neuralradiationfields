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3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96947-031B-4BB4-A174-725C5A184DD2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E788-01F6-4B56-95D4-52ED7A7C6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120B-E0C5-C900-0140-4354EDF88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E96F4-157A-D4F9-6009-21C5CBC4B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48FB1-196C-D09A-20CE-2F05E07F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092B5-8F02-4BCE-B3A2-CD6CCCB7E8AA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C877-777D-79FF-DFAF-C4628A0F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A90A-FB3A-FCF0-7772-88FA8062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86DD-0763-AB1D-7FA6-31FAB205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4AAD-56DD-B32B-4A65-BCDE8982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059A3-CC29-09DD-1BDE-01EF40E1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A99AF-B2F5-4D14-94A2-9675C995235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55D1F-D1E8-021B-818B-0977C55F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A167E-1550-33C2-1936-7574329A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245-E5AF-A4DC-B432-4AF106C7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82247-B337-1C22-4FF9-3EA95830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43D5-B97E-4102-D477-B88CF31F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8184-BC7A-41DF-83BF-F9E21D81D788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76A5-453E-D599-B966-F9EAE084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8C2B-E109-DE31-1B3C-09DC4706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65AB-49E3-B967-A9D9-387082D9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B16E-6227-41B1-05BA-A676B6411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CDF84-F55A-2B3F-1B87-0D5DBFAB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551C9-D171-5FFC-849F-B6A010B7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0D71-3381-44EF-B178-5744BA4E48B3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A5601-0BCE-670F-23BC-C9811615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A6EF7-19BF-5DB3-846E-5F6DD13B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0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17B4-1599-A2C0-E6F7-A1183D60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B60AD-40ED-85B2-0B2E-E1D5B14D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3E690-692C-F170-F28D-E5E2ED2FF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62434-FA4E-2999-C0AA-9A043239F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7F1AA-06A5-66A6-C9FE-11A50CC06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EE996-DB7A-1839-E614-A97A1693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B37E-76C1-42CC-87A1-C81E1872AA48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37472-6C42-962B-680A-1DD66F14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CDC53-E6E2-99F7-65A7-02338488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4D94-8DC3-37B5-1248-7AA23893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1EF06-687E-D913-A15B-D02795FC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F1609-2663-48E9-82DD-30BCDA9EE8C3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1C87E-ECEE-C15D-1C99-6B63E163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55D0B-1172-B6F1-5379-CBAFA571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8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A2C30-163A-0517-A858-0337D0DB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4AA0-7F9C-4C2E-AB86-030628F3B78B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D4AD3-3383-4520-30D7-A77D4751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3C61E-A66A-2D0F-FBBC-E1DBE1F9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6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C5CF-35C9-7238-79DA-03B5116A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55CE-92A0-D3FB-B9D4-34E03ACB7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C11F1-2AF5-EB4B-8860-5C19794F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06A8D-8055-008A-68AE-CE9473C1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2944-B148-4F22-91C0-6FF9DA9D6065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EAA0-CFA5-4ECB-87FE-C714E2FB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67326-2E2A-3F2B-7648-E6B13F1F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0DF6-2D0F-FA3A-E0D0-FD3EC81F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7B75-C13E-C381-C61F-CDF199680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3445B-577D-1FF4-40E5-44DC6F7D6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E9CB4-5314-E963-F6DA-603F7C87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B59C-2982-4EEB-A96C-42C52BF6DA33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AE445-C108-E282-F878-30BFE736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FA970-69B0-5047-BA93-8FE1161B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3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20DF-22F2-B926-881D-8FC18924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4B85D-5CB5-EDB4-3545-1F1C051E3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7ADBA-0AA1-C543-2E0E-E4F32252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9BD6-B45A-4CB4-A497-28C5637C544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4E7B7-E028-553F-C876-C1333688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7B5FB-8D6F-1208-C17B-189EA2D2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7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BFC77-F534-6340-6B0B-C488A3D83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7C721-95FF-037E-1D97-58222812B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970C4-0953-F321-8B99-D494F94C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D208-8ADC-479C-ACD0-0A62AAC0806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E1206-8B5E-CCDE-E821-76BAA0AB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D9919-5F3F-7B19-3733-54320DC6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0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3F94F-2D44-ED1B-9A30-228A516F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D9EAA-277E-1CC3-C7E5-D612C6793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18D02-A5AB-EF22-DB0F-CB98CE9ED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818E-CE1B-4AE5-B5DB-4BE4A5FA81E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9FB0-1E46-D2E8-C55D-644D1E95C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D0D89-C64F-3CD0-F3B7-FDFDAEB39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71B5B-E67F-4724-A43C-876866615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3A2CAF-E038-D9BB-BA6E-3060B394A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9418"/>
            <a:ext cx="9144000" cy="146656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B43426"/>
                </a:solidFill>
                <a:latin typeface="Montserrat" pitchFamily="2" charset="0"/>
              </a:rPr>
              <a:t>Presentation by</a:t>
            </a:r>
          </a:p>
          <a:p>
            <a:r>
              <a:rPr lang="en-US" sz="1600" b="1" dirty="0">
                <a:solidFill>
                  <a:srgbClr val="B43426"/>
                </a:solidFill>
                <a:latin typeface="Montserrat" pitchFamily="2" charset="0"/>
              </a:rPr>
              <a:t>Konark Karia [AU2544011]</a:t>
            </a:r>
          </a:p>
          <a:p>
            <a:r>
              <a:rPr lang="en-US" sz="1600" b="1" dirty="0">
                <a:solidFill>
                  <a:srgbClr val="B43426"/>
                </a:solidFill>
                <a:latin typeface="Montserrat" pitchFamily="2" charset="0"/>
              </a:rPr>
              <a:t>Megh Patel [AU2544020]</a:t>
            </a:r>
          </a:p>
          <a:p>
            <a:r>
              <a:rPr lang="en-US" sz="1600" b="1" dirty="0">
                <a:solidFill>
                  <a:srgbClr val="B43426"/>
                </a:solidFill>
                <a:latin typeface="Montserrat" pitchFamily="2" charset="0"/>
              </a:rPr>
              <a:t>Hardi Makwana [AU2544013]</a:t>
            </a:r>
            <a:endParaRPr lang="en-US" sz="1600" dirty="0">
              <a:solidFill>
                <a:srgbClr val="B43426"/>
              </a:solidFill>
              <a:latin typeface="Montserrat" pitchFamily="2" charset="0"/>
            </a:endParaRPr>
          </a:p>
          <a:p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3F6F31-9A71-48BD-257D-4131C577F7C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School of Engineering and Applied Science, Ahmedabad University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66D1B8-4D2B-3DC3-294B-0ECD46B232DE}"/>
              </a:ext>
            </a:extLst>
          </p:cNvPr>
          <p:cNvSpPr txBox="1">
            <a:spLocks/>
          </p:cNvSpPr>
          <p:nvPr/>
        </p:nvSpPr>
        <p:spPr>
          <a:xfrm>
            <a:off x="1524000" y="6493199"/>
            <a:ext cx="9144000" cy="36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E9233D-B7B5-CDF4-3322-1F22D130C92D}"/>
              </a:ext>
            </a:extLst>
          </p:cNvPr>
          <p:cNvSpPr txBox="1">
            <a:spLocks/>
          </p:cNvSpPr>
          <p:nvPr/>
        </p:nvSpPr>
        <p:spPr>
          <a:xfrm>
            <a:off x="1524000" y="2045690"/>
            <a:ext cx="9144000" cy="1758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B43426"/>
                </a:solidFill>
                <a:latin typeface="Montserrat" pitchFamily="2" charset="0"/>
              </a:rPr>
              <a:t>A Survey of Neural Radiance Fields and Gaussian Splatting in Satellite Remote Sensing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6D855-BA83-ACAB-28C8-16E4EEBBA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945" y="173580"/>
            <a:ext cx="3636110" cy="158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7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6907-A3CA-6B56-2DFE-39A432D2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B43426"/>
                </a:solidFill>
                <a:latin typeface="Montserrat" pitchFamily="2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BEDE-6BE0-48B2-4074-7D7BCB98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334"/>
            <a:ext cx="10515600" cy="4662795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b="1" dirty="0">
                <a:latin typeface="Montserrat" pitchFamily="2" charset="0"/>
              </a:rPr>
              <a:t>Traditional 3D mapping</a:t>
            </a:r>
            <a:r>
              <a:rPr lang="en-US" dirty="0">
                <a:latin typeface="Montserrat" pitchFamily="2" charset="0"/>
              </a:rPr>
              <a:t> often fails on </a:t>
            </a:r>
            <a:r>
              <a:rPr lang="en-US" b="1" dirty="0">
                <a:latin typeface="Montserrat" pitchFamily="2" charset="0"/>
              </a:rPr>
              <a:t>satellite-specific textures, reflections, and deep shadows</a:t>
            </a:r>
            <a:r>
              <a:rPr lang="en-US" dirty="0">
                <a:latin typeface="Montserrat" pitchFamily="2" charset="0"/>
              </a:rPr>
              <a:t> where neural methods excel.</a:t>
            </a:r>
          </a:p>
          <a:p>
            <a:pPr algn="just">
              <a:spcBef>
                <a:spcPts val="2500"/>
              </a:spcBef>
            </a:pPr>
            <a:r>
              <a:rPr lang="en-US" b="1" dirty="0" err="1">
                <a:latin typeface="Montserrat" pitchFamily="2" charset="0"/>
              </a:rPr>
              <a:t>NeRFs</a:t>
            </a:r>
            <a:r>
              <a:rPr lang="en-US" dirty="0">
                <a:latin typeface="Montserrat" pitchFamily="2" charset="0"/>
              </a:rPr>
              <a:t> provide a continuous neural representation that </a:t>
            </a:r>
            <a:r>
              <a:rPr lang="en-US" b="1" dirty="0">
                <a:latin typeface="Montserrat" pitchFamily="2" charset="0"/>
              </a:rPr>
              <a:t>"fills in the gaps"</a:t>
            </a:r>
            <a:r>
              <a:rPr lang="en-US" dirty="0">
                <a:latin typeface="Montserrat" pitchFamily="2" charset="0"/>
              </a:rPr>
              <a:t> to create </a:t>
            </a:r>
            <a:r>
              <a:rPr lang="en-US" b="1" dirty="0">
                <a:latin typeface="Montserrat" pitchFamily="2" charset="0"/>
              </a:rPr>
              <a:t>photorealistic 3D geometry from 2D pixels.</a:t>
            </a:r>
          </a:p>
          <a:p>
            <a:pPr>
              <a:spcBef>
                <a:spcPts val="2500"/>
              </a:spcBef>
            </a:pPr>
            <a:r>
              <a:rPr lang="en-US" b="1" dirty="0">
                <a:latin typeface="Montserrat" pitchFamily="2" charset="0"/>
              </a:rPr>
              <a:t>3D Gaussian Splatting </a:t>
            </a:r>
            <a:r>
              <a:rPr lang="en-US" dirty="0">
                <a:latin typeface="Montserrat" pitchFamily="2" charset="0"/>
              </a:rPr>
              <a:t>provides the critical leap from slow neural training to real-time, high-speed rendering of satellite scenes.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D3902-47A3-0DFC-3E5A-330170CCAD77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Konark Karia | Megh Patel | Hardi Makwana							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0C813-4BAC-B2F3-31DC-7BF3887E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516" y="6440129"/>
            <a:ext cx="2743200" cy="365125"/>
          </a:xfrm>
        </p:spPr>
        <p:txBody>
          <a:bodyPr/>
          <a:lstStyle/>
          <a:p>
            <a:fld id="{9A671B5B-E67F-4724-A43C-876866615C7E}" type="slidenum">
              <a:rPr lang="en-US" sz="1800" smtClean="0">
                <a:solidFill>
                  <a:schemeClr val="bg1"/>
                </a:solidFill>
                <a:latin typeface="Montserrat" pitchFamily="2" charset="0"/>
              </a:rPr>
              <a:t>2</a:t>
            </a:fld>
            <a:endParaRPr lang="en-US" sz="18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A7835-9D40-DB13-C24D-056BB897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44" y="365125"/>
            <a:ext cx="2939845" cy="12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7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D70B-7573-112B-1E0D-E16E0448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7E3E-DC76-919D-3A49-1DD4CD85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B43426"/>
                </a:solidFill>
                <a:latin typeface="Montserrat" pitchFamily="2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12F52-CBDB-E2D3-3E31-1DE511F1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7334"/>
            <a:ext cx="10515600" cy="4662795"/>
          </a:xfrm>
        </p:spPr>
        <p:txBody>
          <a:bodyPr>
            <a:normAutofit/>
          </a:bodyPr>
          <a:lstStyle/>
          <a:p>
            <a:pPr algn="just">
              <a:spcBef>
                <a:spcPts val="2500"/>
              </a:spcBef>
            </a:pPr>
            <a:r>
              <a:rPr lang="en-US" b="1" dirty="0">
                <a:latin typeface="Montserrat" pitchFamily="2" charset="0"/>
              </a:rPr>
              <a:t>Modern neural models</a:t>
            </a:r>
            <a:r>
              <a:rPr lang="en-US" dirty="0">
                <a:latin typeface="Montserrat" pitchFamily="2" charset="0"/>
              </a:rPr>
              <a:t> can uniquely separate </a:t>
            </a:r>
            <a:r>
              <a:rPr lang="en-US" b="1" dirty="0">
                <a:latin typeface="Montserrat" pitchFamily="2" charset="0"/>
              </a:rPr>
              <a:t>permanent terrain geometry</a:t>
            </a:r>
            <a:r>
              <a:rPr lang="en-US" dirty="0">
                <a:latin typeface="Montserrat" pitchFamily="2" charset="0"/>
              </a:rPr>
              <a:t> from transient atmospheric haze and shifting sun angles.</a:t>
            </a:r>
          </a:p>
          <a:p>
            <a:pPr algn="just">
              <a:spcBef>
                <a:spcPts val="2500"/>
              </a:spcBef>
            </a:pPr>
            <a:r>
              <a:rPr lang="en-US" dirty="0">
                <a:latin typeface="Montserrat" pitchFamily="2" charset="0"/>
              </a:rPr>
              <a:t>These technologies enable the leap from modeling single structures to </a:t>
            </a:r>
            <a:r>
              <a:rPr lang="en-US" b="1" dirty="0">
                <a:latin typeface="Montserrat" pitchFamily="2" charset="0"/>
              </a:rPr>
              <a:t>generating interactive, city-scale "Digital Twins"</a:t>
            </a:r>
            <a:r>
              <a:rPr lang="en-US" dirty="0">
                <a:latin typeface="Montserrat" pitchFamily="2" charset="0"/>
              </a:rPr>
              <a:t> of the Earth.</a:t>
            </a:r>
          </a:p>
          <a:p>
            <a:pPr algn="just">
              <a:spcBef>
                <a:spcPts val="2500"/>
              </a:spcBef>
            </a:pPr>
            <a:r>
              <a:rPr lang="en-US" dirty="0">
                <a:latin typeface="Montserrat" pitchFamily="2" charset="0"/>
              </a:rPr>
              <a:t>This survey categorizes a rapidly expanding field to help researchers select the most efficient architectures for remote sensing.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A9C6B-8F26-69D7-24D6-805B78C2BB2A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B434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Konark Karia | Megh Patel | Hardi Makwana							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B894D-8878-BC7E-4522-E8A1C0E2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516" y="6440129"/>
            <a:ext cx="2743200" cy="365125"/>
          </a:xfrm>
        </p:spPr>
        <p:txBody>
          <a:bodyPr/>
          <a:lstStyle/>
          <a:p>
            <a:fld id="{9A671B5B-E67F-4724-A43C-876866615C7E}" type="slidenum">
              <a:rPr lang="en-US" sz="1800" smtClean="0">
                <a:solidFill>
                  <a:schemeClr val="bg1"/>
                </a:solidFill>
                <a:latin typeface="Montserrat" pitchFamily="2" charset="0"/>
              </a:rPr>
              <a:t>3</a:t>
            </a:fld>
            <a:endParaRPr lang="en-US" sz="18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D9DC1-16B6-9BEA-924C-3ED342B6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44" y="365125"/>
            <a:ext cx="2939845" cy="12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195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Office Theme</vt:lpstr>
      <vt:lpstr>PowerPoint Presentation</vt:lpstr>
      <vt:lpstr>Motivation</vt:lpstr>
      <vt:lpstr>Motivation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 Patel</dc:creator>
  <cp:lastModifiedBy>Megh Patel</cp:lastModifiedBy>
  <cp:revision>10</cp:revision>
  <dcterms:created xsi:type="dcterms:W3CDTF">2026-01-19T08:03:29Z</dcterms:created>
  <dcterms:modified xsi:type="dcterms:W3CDTF">2026-01-19T08:52:01Z</dcterms:modified>
</cp:coreProperties>
</file>