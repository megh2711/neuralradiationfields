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34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396947-031B-4BB4-A174-725C5A184DD2}" type="datetimeFigureOut">
              <a:rPr lang="en-US" smtClean="0"/>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81E788-01F6-4B56-95D4-52ED7A7C6C3D}" type="slidenum">
              <a:rPr lang="en-US" smtClean="0"/>
              <a:t>‹#›</a:t>
            </a:fld>
            <a:endParaRPr lang="en-US"/>
          </a:p>
        </p:txBody>
      </p:sp>
    </p:spTree>
    <p:extLst>
      <p:ext uri="{BB962C8B-B14F-4D97-AF65-F5344CB8AC3E}">
        <p14:creationId xmlns:p14="http://schemas.microsoft.com/office/powerpoint/2010/main" val="101461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5120B-E0C5-C900-0140-4354EDF88D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6E96F4-157A-D4F9-6009-21C5CBC4B8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648FB1-196C-D09A-20CE-2F05E07F7C14}"/>
              </a:ext>
            </a:extLst>
          </p:cNvPr>
          <p:cNvSpPr>
            <a:spLocks noGrp="1"/>
          </p:cNvSpPr>
          <p:nvPr>
            <p:ph type="dt" sz="half" idx="10"/>
          </p:nvPr>
        </p:nvSpPr>
        <p:spPr/>
        <p:txBody>
          <a:bodyPr/>
          <a:lstStyle/>
          <a:p>
            <a:fld id="{776092B5-8F02-4BCE-B3A2-CD6CCCB7E8AA}" type="datetime1">
              <a:rPr lang="en-US" smtClean="0"/>
              <a:t>1/23/2026</a:t>
            </a:fld>
            <a:endParaRPr lang="en-US"/>
          </a:p>
        </p:txBody>
      </p:sp>
      <p:sp>
        <p:nvSpPr>
          <p:cNvPr id="5" name="Footer Placeholder 4">
            <a:extLst>
              <a:ext uri="{FF2B5EF4-FFF2-40B4-BE49-F238E27FC236}">
                <a16:creationId xmlns:a16="http://schemas.microsoft.com/office/drawing/2014/main" id="{F8EAC877-777D-79FF-DFAF-C4628A0FA0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EAA90A-FB3A-FCF0-7772-88FA8062079E}"/>
              </a:ext>
            </a:extLst>
          </p:cNvPr>
          <p:cNvSpPr>
            <a:spLocks noGrp="1"/>
          </p:cNvSpPr>
          <p:nvPr>
            <p:ph type="sldNum" sz="quarter" idx="12"/>
          </p:nvPr>
        </p:nvSpPr>
        <p:spPr/>
        <p:txBody>
          <a:bodyPr/>
          <a:lstStyle/>
          <a:p>
            <a:fld id="{9A671B5B-E67F-4724-A43C-876866615C7E}" type="slidenum">
              <a:rPr lang="en-US" smtClean="0"/>
              <a:t>‹#›</a:t>
            </a:fld>
            <a:endParaRPr lang="en-US"/>
          </a:p>
        </p:txBody>
      </p:sp>
    </p:spTree>
    <p:extLst>
      <p:ext uri="{BB962C8B-B14F-4D97-AF65-F5344CB8AC3E}">
        <p14:creationId xmlns:p14="http://schemas.microsoft.com/office/powerpoint/2010/main" val="3207137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B86DD-0763-AB1D-7FA6-31FAB2050B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F94AAD-56DD-B32B-4A65-BCDE89821B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9059A3-CC29-09DD-1BDE-01EF40E12DF7}"/>
              </a:ext>
            </a:extLst>
          </p:cNvPr>
          <p:cNvSpPr>
            <a:spLocks noGrp="1"/>
          </p:cNvSpPr>
          <p:nvPr>
            <p:ph type="dt" sz="half" idx="10"/>
          </p:nvPr>
        </p:nvSpPr>
        <p:spPr/>
        <p:txBody>
          <a:bodyPr/>
          <a:lstStyle/>
          <a:p>
            <a:fld id="{474A99AF-B2F5-4D14-94A2-9675C9952352}" type="datetime1">
              <a:rPr lang="en-US" smtClean="0"/>
              <a:t>1/23/2026</a:t>
            </a:fld>
            <a:endParaRPr lang="en-US"/>
          </a:p>
        </p:txBody>
      </p:sp>
      <p:sp>
        <p:nvSpPr>
          <p:cNvPr id="5" name="Footer Placeholder 4">
            <a:extLst>
              <a:ext uri="{FF2B5EF4-FFF2-40B4-BE49-F238E27FC236}">
                <a16:creationId xmlns:a16="http://schemas.microsoft.com/office/drawing/2014/main" id="{ACC55D1F-D1E8-021B-818B-0977C55FD2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3A167E-1550-33C2-1936-7574329A33B2}"/>
              </a:ext>
            </a:extLst>
          </p:cNvPr>
          <p:cNvSpPr>
            <a:spLocks noGrp="1"/>
          </p:cNvSpPr>
          <p:nvPr>
            <p:ph type="sldNum" sz="quarter" idx="12"/>
          </p:nvPr>
        </p:nvSpPr>
        <p:spPr/>
        <p:txBody>
          <a:bodyPr/>
          <a:lstStyle/>
          <a:p>
            <a:fld id="{9A671B5B-E67F-4724-A43C-876866615C7E}" type="slidenum">
              <a:rPr lang="en-US" smtClean="0"/>
              <a:t>‹#›</a:t>
            </a:fld>
            <a:endParaRPr lang="en-US"/>
          </a:p>
        </p:txBody>
      </p:sp>
    </p:spTree>
    <p:extLst>
      <p:ext uri="{BB962C8B-B14F-4D97-AF65-F5344CB8AC3E}">
        <p14:creationId xmlns:p14="http://schemas.microsoft.com/office/powerpoint/2010/main" val="4035742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E3245-E5AF-A4DC-B432-4AF106C7A9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982247-B337-1C22-4FF9-3EA958300E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7343D5-B97E-4102-D477-B88CF31FCF60}"/>
              </a:ext>
            </a:extLst>
          </p:cNvPr>
          <p:cNvSpPr>
            <a:spLocks noGrp="1"/>
          </p:cNvSpPr>
          <p:nvPr>
            <p:ph type="dt" sz="half" idx="10"/>
          </p:nvPr>
        </p:nvSpPr>
        <p:spPr/>
        <p:txBody>
          <a:bodyPr/>
          <a:lstStyle/>
          <a:p>
            <a:fld id="{F2C68184-BC7A-41DF-83BF-F9E21D81D788}" type="datetime1">
              <a:rPr lang="en-US" smtClean="0"/>
              <a:t>1/23/2026</a:t>
            </a:fld>
            <a:endParaRPr lang="en-US"/>
          </a:p>
        </p:txBody>
      </p:sp>
      <p:sp>
        <p:nvSpPr>
          <p:cNvPr id="5" name="Footer Placeholder 4">
            <a:extLst>
              <a:ext uri="{FF2B5EF4-FFF2-40B4-BE49-F238E27FC236}">
                <a16:creationId xmlns:a16="http://schemas.microsoft.com/office/drawing/2014/main" id="{616676A5-453E-D599-B966-F9EAE08470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9F8C2B-E109-DE31-1B3C-09DC4706F51D}"/>
              </a:ext>
            </a:extLst>
          </p:cNvPr>
          <p:cNvSpPr>
            <a:spLocks noGrp="1"/>
          </p:cNvSpPr>
          <p:nvPr>
            <p:ph type="sldNum" sz="quarter" idx="12"/>
          </p:nvPr>
        </p:nvSpPr>
        <p:spPr/>
        <p:txBody>
          <a:bodyPr/>
          <a:lstStyle/>
          <a:p>
            <a:fld id="{9A671B5B-E67F-4724-A43C-876866615C7E}" type="slidenum">
              <a:rPr lang="en-US" smtClean="0"/>
              <a:t>‹#›</a:t>
            </a:fld>
            <a:endParaRPr lang="en-US"/>
          </a:p>
        </p:txBody>
      </p:sp>
    </p:spTree>
    <p:extLst>
      <p:ext uri="{BB962C8B-B14F-4D97-AF65-F5344CB8AC3E}">
        <p14:creationId xmlns:p14="http://schemas.microsoft.com/office/powerpoint/2010/main" val="100176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365AB-49E3-B967-A9D9-387082D978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EDB16E-6227-41B1-05BA-A676B64111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ACDF84-F55A-2B3F-1B87-0D5DBFAB21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D551C9-D171-5FFC-849F-B6A010B78D5C}"/>
              </a:ext>
            </a:extLst>
          </p:cNvPr>
          <p:cNvSpPr>
            <a:spLocks noGrp="1"/>
          </p:cNvSpPr>
          <p:nvPr>
            <p:ph type="dt" sz="half" idx="10"/>
          </p:nvPr>
        </p:nvSpPr>
        <p:spPr/>
        <p:txBody>
          <a:bodyPr/>
          <a:lstStyle/>
          <a:p>
            <a:fld id="{8D900D71-3381-44EF-B178-5744BA4E48B3}" type="datetime1">
              <a:rPr lang="en-US" smtClean="0"/>
              <a:t>1/23/2026</a:t>
            </a:fld>
            <a:endParaRPr lang="en-US"/>
          </a:p>
        </p:txBody>
      </p:sp>
      <p:sp>
        <p:nvSpPr>
          <p:cNvPr id="6" name="Footer Placeholder 5">
            <a:extLst>
              <a:ext uri="{FF2B5EF4-FFF2-40B4-BE49-F238E27FC236}">
                <a16:creationId xmlns:a16="http://schemas.microsoft.com/office/drawing/2014/main" id="{819A5601-0BCE-670F-23BC-C9811615E0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BA6EF7-19BF-5DB3-846E-5F6DD13B3312}"/>
              </a:ext>
            </a:extLst>
          </p:cNvPr>
          <p:cNvSpPr>
            <a:spLocks noGrp="1"/>
          </p:cNvSpPr>
          <p:nvPr>
            <p:ph type="sldNum" sz="quarter" idx="12"/>
          </p:nvPr>
        </p:nvSpPr>
        <p:spPr/>
        <p:txBody>
          <a:bodyPr/>
          <a:lstStyle/>
          <a:p>
            <a:fld id="{9A671B5B-E67F-4724-A43C-876866615C7E}" type="slidenum">
              <a:rPr lang="en-US" smtClean="0"/>
              <a:t>‹#›</a:t>
            </a:fld>
            <a:endParaRPr lang="en-US"/>
          </a:p>
        </p:txBody>
      </p:sp>
    </p:spTree>
    <p:extLst>
      <p:ext uri="{BB962C8B-B14F-4D97-AF65-F5344CB8AC3E}">
        <p14:creationId xmlns:p14="http://schemas.microsoft.com/office/powerpoint/2010/main" val="3417305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017B4-1599-A2C0-E6F7-A1183D60DF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3B60AD-40ED-85B2-0B2E-E1D5B14DC4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53E690-692C-F170-F28D-E5E2ED2FFF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362434-FA4E-2999-C0AA-9A043239FB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47F1AA-06A5-66A6-C9FE-11A50CC06E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8EE996-DB7A-1839-E614-A97A1693861D}"/>
              </a:ext>
            </a:extLst>
          </p:cNvPr>
          <p:cNvSpPr>
            <a:spLocks noGrp="1"/>
          </p:cNvSpPr>
          <p:nvPr>
            <p:ph type="dt" sz="half" idx="10"/>
          </p:nvPr>
        </p:nvSpPr>
        <p:spPr/>
        <p:txBody>
          <a:bodyPr/>
          <a:lstStyle/>
          <a:p>
            <a:fld id="{CE52B37E-76C1-42CC-87A1-C81E1872AA48}" type="datetime1">
              <a:rPr lang="en-US" smtClean="0"/>
              <a:t>1/23/2026</a:t>
            </a:fld>
            <a:endParaRPr lang="en-US"/>
          </a:p>
        </p:txBody>
      </p:sp>
      <p:sp>
        <p:nvSpPr>
          <p:cNvPr id="8" name="Footer Placeholder 7">
            <a:extLst>
              <a:ext uri="{FF2B5EF4-FFF2-40B4-BE49-F238E27FC236}">
                <a16:creationId xmlns:a16="http://schemas.microsoft.com/office/drawing/2014/main" id="{E2A37472-6C42-962B-680A-1DD66F1465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BCDC53-E6E2-99F7-65A7-023384881D69}"/>
              </a:ext>
            </a:extLst>
          </p:cNvPr>
          <p:cNvSpPr>
            <a:spLocks noGrp="1"/>
          </p:cNvSpPr>
          <p:nvPr>
            <p:ph type="sldNum" sz="quarter" idx="12"/>
          </p:nvPr>
        </p:nvSpPr>
        <p:spPr/>
        <p:txBody>
          <a:bodyPr/>
          <a:lstStyle/>
          <a:p>
            <a:fld id="{9A671B5B-E67F-4724-A43C-876866615C7E}" type="slidenum">
              <a:rPr lang="en-US" smtClean="0"/>
              <a:t>‹#›</a:t>
            </a:fld>
            <a:endParaRPr lang="en-US"/>
          </a:p>
        </p:txBody>
      </p:sp>
    </p:spTree>
    <p:extLst>
      <p:ext uri="{BB962C8B-B14F-4D97-AF65-F5344CB8AC3E}">
        <p14:creationId xmlns:p14="http://schemas.microsoft.com/office/powerpoint/2010/main" val="2090699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44D94-8DC3-37B5-1248-7AA2389319A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B1EF06-687E-D913-A15B-D02795FCF898}"/>
              </a:ext>
            </a:extLst>
          </p:cNvPr>
          <p:cNvSpPr>
            <a:spLocks noGrp="1"/>
          </p:cNvSpPr>
          <p:nvPr>
            <p:ph type="dt" sz="half" idx="10"/>
          </p:nvPr>
        </p:nvSpPr>
        <p:spPr/>
        <p:txBody>
          <a:bodyPr/>
          <a:lstStyle/>
          <a:p>
            <a:fld id="{2B6F1609-2663-48E9-82DD-30BCDA9EE8C3}" type="datetime1">
              <a:rPr lang="en-US" smtClean="0"/>
              <a:t>1/23/2026</a:t>
            </a:fld>
            <a:endParaRPr lang="en-US"/>
          </a:p>
        </p:txBody>
      </p:sp>
      <p:sp>
        <p:nvSpPr>
          <p:cNvPr id="4" name="Footer Placeholder 3">
            <a:extLst>
              <a:ext uri="{FF2B5EF4-FFF2-40B4-BE49-F238E27FC236}">
                <a16:creationId xmlns:a16="http://schemas.microsoft.com/office/drawing/2014/main" id="{AC71C87E-ECEE-C15D-1C99-6B63E1639B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555D0B-1172-B6F1-5379-CBAFA57191AF}"/>
              </a:ext>
            </a:extLst>
          </p:cNvPr>
          <p:cNvSpPr>
            <a:spLocks noGrp="1"/>
          </p:cNvSpPr>
          <p:nvPr>
            <p:ph type="sldNum" sz="quarter" idx="12"/>
          </p:nvPr>
        </p:nvSpPr>
        <p:spPr/>
        <p:txBody>
          <a:bodyPr/>
          <a:lstStyle/>
          <a:p>
            <a:fld id="{9A671B5B-E67F-4724-A43C-876866615C7E}" type="slidenum">
              <a:rPr lang="en-US" smtClean="0"/>
              <a:t>‹#›</a:t>
            </a:fld>
            <a:endParaRPr lang="en-US"/>
          </a:p>
        </p:txBody>
      </p:sp>
    </p:spTree>
    <p:extLst>
      <p:ext uri="{BB962C8B-B14F-4D97-AF65-F5344CB8AC3E}">
        <p14:creationId xmlns:p14="http://schemas.microsoft.com/office/powerpoint/2010/main" val="1121285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1A2C30-163A-0517-A858-0337D0DBC949}"/>
              </a:ext>
            </a:extLst>
          </p:cNvPr>
          <p:cNvSpPr>
            <a:spLocks noGrp="1"/>
          </p:cNvSpPr>
          <p:nvPr>
            <p:ph type="dt" sz="half" idx="10"/>
          </p:nvPr>
        </p:nvSpPr>
        <p:spPr/>
        <p:txBody>
          <a:bodyPr/>
          <a:lstStyle/>
          <a:p>
            <a:fld id="{084E4AA0-7F9C-4C2E-AB86-030628F3B78B}" type="datetime1">
              <a:rPr lang="en-US" smtClean="0"/>
              <a:t>1/23/2026</a:t>
            </a:fld>
            <a:endParaRPr lang="en-US"/>
          </a:p>
        </p:txBody>
      </p:sp>
      <p:sp>
        <p:nvSpPr>
          <p:cNvPr id="3" name="Footer Placeholder 2">
            <a:extLst>
              <a:ext uri="{FF2B5EF4-FFF2-40B4-BE49-F238E27FC236}">
                <a16:creationId xmlns:a16="http://schemas.microsoft.com/office/drawing/2014/main" id="{A79D4AD3-3383-4520-30D7-A77D475194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D3C61E-A66A-2D0F-FBBC-E1DBE1F96704}"/>
              </a:ext>
            </a:extLst>
          </p:cNvPr>
          <p:cNvSpPr>
            <a:spLocks noGrp="1"/>
          </p:cNvSpPr>
          <p:nvPr>
            <p:ph type="sldNum" sz="quarter" idx="12"/>
          </p:nvPr>
        </p:nvSpPr>
        <p:spPr/>
        <p:txBody>
          <a:bodyPr/>
          <a:lstStyle/>
          <a:p>
            <a:fld id="{9A671B5B-E67F-4724-A43C-876866615C7E}" type="slidenum">
              <a:rPr lang="en-US" smtClean="0"/>
              <a:t>‹#›</a:t>
            </a:fld>
            <a:endParaRPr lang="en-US"/>
          </a:p>
        </p:txBody>
      </p:sp>
    </p:spTree>
    <p:extLst>
      <p:ext uri="{BB962C8B-B14F-4D97-AF65-F5344CB8AC3E}">
        <p14:creationId xmlns:p14="http://schemas.microsoft.com/office/powerpoint/2010/main" val="929969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DC5CF-35C9-7238-79DA-03B5116AFA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4E55CE-92A0-D3FB-B9D4-34E03ACB76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2C11F1-2AF5-EB4B-8860-5C19794F77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D06A8D-8055-008A-68AE-CE9473C11C8E}"/>
              </a:ext>
            </a:extLst>
          </p:cNvPr>
          <p:cNvSpPr>
            <a:spLocks noGrp="1"/>
          </p:cNvSpPr>
          <p:nvPr>
            <p:ph type="dt" sz="half" idx="10"/>
          </p:nvPr>
        </p:nvSpPr>
        <p:spPr/>
        <p:txBody>
          <a:bodyPr/>
          <a:lstStyle/>
          <a:p>
            <a:fld id="{79302944-B148-4F22-91C0-6FF9DA9D6065}" type="datetime1">
              <a:rPr lang="en-US" smtClean="0"/>
              <a:t>1/23/2026</a:t>
            </a:fld>
            <a:endParaRPr lang="en-US"/>
          </a:p>
        </p:txBody>
      </p:sp>
      <p:sp>
        <p:nvSpPr>
          <p:cNvPr id="6" name="Footer Placeholder 5">
            <a:extLst>
              <a:ext uri="{FF2B5EF4-FFF2-40B4-BE49-F238E27FC236}">
                <a16:creationId xmlns:a16="http://schemas.microsoft.com/office/drawing/2014/main" id="{1CB3EAA0-CFA5-4ECB-87FE-C714E2FBF5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C67326-2E2A-3F2B-7648-E6B13F1F0CDC}"/>
              </a:ext>
            </a:extLst>
          </p:cNvPr>
          <p:cNvSpPr>
            <a:spLocks noGrp="1"/>
          </p:cNvSpPr>
          <p:nvPr>
            <p:ph type="sldNum" sz="quarter" idx="12"/>
          </p:nvPr>
        </p:nvSpPr>
        <p:spPr/>
        <p:txBody>
          <a:bodyPr/>
          <a:lstStyle/>
          <a:p>
            <a:fld id="{9A671B5B-E67F-4724-A43C-876866615C7E}" type="slidenum">
              <a:rPr lang="en-US" smtClean="0"/>
              <a:t>‹#›</a:t>
            </a:fld>
            <a:endParaRPr lang="en-US"/>
          </a:p>
        </p:txBody>
      </p:sp>
    </p:spTree>
    <p:extLst>
      <p:ext uri="{BB962C8B-B14F-4D97-AF65-F5344CB8AC3E}">
        <p14:creationId xmlns:p14="http://schemas.microsoft.com/office/powerpoint/2010/main" val="268454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C0DF6-2D0F-FA3A-E0D0-FD3EC81FC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657B75-C13E-C381-C61F-CDF199680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43445B-577D-1FF4-40E5-44DC6F7D6B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EE9CB4-5314-E963-F6DA-603F7C87F817}"/>
              </a:ext>
            </a:extLst>
          </p:cNvPr>
          <p:cNvSpPr>
            <a:spLocks noGrp="1"/>
          </p:cNvSpPr>
          <p:nvPr>
            <p:ph type="dt" sz="half" idx="10"/>
          </p:nvPr>
        </p:nvSpPr>
        <p:spPr/>
        <p:txBody>
          <a:bodyPr/>
          <a:lstStyle/>
          <a:p>
            <a:fld id="{91E7B59C-2982-4EEB-A96C-42C52BF6DA33}" type="datetime1">
              <a:rPr lang="en-US" smtClean="0"/>
              <a:t>1/23/2026</a:t>
            </a:fld>
            <a:endParaRPr lang="en-US"/>
          </a:p>
        </p:txBody>
      </p:sp>
      <p:sp>
        <p:nvSpPr>
          <p:cNvPr id="6" name="Footer Placeholder 5">
            <a:extLst>
              <a:ext uri="{FF2B5EF4-FFF2-40B4-BE49-F238E27FC236}">
                <a16:creationId xmlns:a16="http://schemas.microsoft.com/office/drawing/2014/main" id="{7CEAE445-C108-E282-F878-30BFE736C7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7FA970-69B0-5047-BA93-8FE1161BFF33}"/>
              </a:ext>
            </a:extLst>
          </p:cNvPr>
          <p:cNvSpPr>
            <a:spLocks noGrp="1"/>
          </p:cNvSpPr>
          <p:nvPr>
            <p:ph type="sldNum" sz="quarter" idx="12"/>
          </p:nvPr>
        </p:nvSpPr>
        <p:spPr/>
        <p:txBody>
          <a:bodyPr/>
          <a:lstStyle/>
          <a:p>
            <a:fld id="{9A671B5B-E67F-4724-A43C-876866615C7E}" type="slidenum">
              <a:rPr lang="en-US" smtClean="0"/>
              <a:t>‹#›</a:t>
            </a:fld>
            <a:endParaRPr lang="en-US"/>
          </a:p>
        </p:txBody>
      </p:sp>
    </p:spTree>
    <p:extLst>
      <p:ext uri="{BB962C8B-B14F-4D97-AF65-F5344CB8AC3E}">
        <p14:creationId xmlns:p14="http://schemas.microsoft.com/office/powerpoint/2010/main" val="201003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E20DF-22F2-B926-881D-8FC18924E5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34B85D-5CB5-EDB4-3545-1F1C051E3F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27ADBA-0AA1-C543-2E0E-E4F3225277EE}"/>
              </a:ext>
            </a:extLst>
          </p:cNvPr>
          <p:cNvSpPr>
            <a:spLocks noGrp="1"/>
          </p:cNvSpPr>
          <p:nvPr>
            <p:ph type="dt" sz="half" idx="10"/>
          </p:nvPr>
        </p:nvSpPr>
        <p:spPr/>
        <p:txBody>
          <a:bodyPr/>
          <a:lstStyle/>
          <a:p>
            <a:fld id="{33A09BD6-B45A-4CB4-A497-28C5637C5442}" type="datetime1">
              <a:rPr lang="en-US" smtClean="0"/>
              <a:t>1/23/2026</a:t>
            </a:fld>
            <a:endParaRPr lang="en-US"/>
          </a:p>
        </p:txBody>
      </p:sp>
      <p:sp>
        <p:nvSpPr>
          <p:cNvPr id="5" name="Footer Placeholder 4">
            <a:extLst>
              <a:ext uri="{FF2B5EF4-FFF2-40B4-BE49-F238E27FC236}">
                <a16:creationId xmlns:a16="http://schemas.microsoft.com/office/drawing/2014/main" id="{3D04E7B7-E028-553F-C876-C1333688E9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D7B5FB-8D6F-1208-C17B-189EA2D2C933}"/>
              </a:ext>
            </a:extLst>
          </p:cNvPr>
          <p:cNvSpPr>
            <a:spLocks noGrp="1"/>
          </p:cNvSpPr>
          <p:nvPr>
            <p:ph type="sldNum" sz="quarter" idx="12"/>
          </p:nvPr>
        </p:nvSpPr>
        <p:spPr/>
        <p:txBody>
          <a:bodyPr/>
          <a:lstStyle/>
          <a:p>
            <a:fld id="{9A671B5B-E67F-4724-A43C-876866615C7E}" type="slidenum">
              <a:rPr lang="en-US" smtClean="0"/>
              <a:t>‹#›</a:t>
            </a:fld>
            <a:endParaRPr lang="en-US"/>
          </a:p>
        </p:txBody>
      </p:sp>
    </p:spTree>
    <p:extLst>
      <p:ext uri="{BB962C8B-B14F-4D97-AF65-F5344CB8AC3E}">
        <p14:creationId xmlns:p14="http://schemas.microsoft.com/office/powerpoint/2010/main" val="3103971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CBFC77-F534-6340-6B0B-C488A3D834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A7C721-95FF-037E-1D97-58222812B6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B970C4-0953-F321-8B99-D494F94C8BFF}"/>
              </a:ext>
            </a:extLst>
          </p:cNvPr>
          <p:cNvSpPr>
            <a:spLocks noGrp="1"/>
          </p:cNvSpPr>
          <p:nvPr>
            <p:ph type="dt" sz="half" idx="10"/>
          </p:nvPr>
        </p:nvSpPr>
        <p:spPr/>
        <p:txBody>
          <a:bodyPr/>
          <a:lstStyle/>
          <a:p>
            <a:fld id="{0E03D208-8ADC-479C-ACD0-0A62AAC08064}" type="datetime1">
              <a:rPr lang="en-US" smtClean="0"/>
              <a:t>1/23/2026</a:t>
            </a:fld>
            <a:endParaRPr lang="en-US"/>
          </a:p>
        </p:txBody>
      </p:sp>
      <p:sp>
        <p:nvSpPr>
          <p:cNvPr id="5" name="Footer Placeholder 4">
            <a:extLst>
              <a:ext uri="{FF2B5EF4-FFF2-40B4-BE49-F238E27FC236}">
                <a16:creationId xmlns:a16="http://schemas.microsoft.com/office/drawing/2014/main" id="{EE1E1206-8B5E-CCDE-E821-76BAA0AB08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6D9919-5F3F-7B19-3733-54320DC668BB}"/>
              </a:ext>
            </a:extLst>
          </p:cNvPr>
          <p:cNvSpPr>
            <a:spLocks noGrp="1"/>
          </p:cNvSpPr>
          <p:nvPr>
            <p:ph type="sldNum" sz="quarter" idx="12"/>
          </p:nvPr>
        </p:nvSpPr>
        <p:spPr/>
        <p:txBody>
          <a:bodyPr/>
          <a:lstStyle/>
          <a:p>
            <a:fld id="{9A671B5B-E67F-4724-A43C-876866615C7E}" type="slidenum">
              <a:rPr lang="en-US" smtClean="0"/>
              <a:t>‹#›</a:t>
            </a:fld>
            <a:endParaRPr lang="en-US"/>
          </a:p>
        </p:txBody>
      </p:sp>
    </p:spTree>
    <p:extLst>
      <p:ext uri="{BB962C8B-B14F-4D97-AF65-F5344CB8AC3E}">
        <p14:creationId xmlns:p14="http://schemas.microsoft.com/office/powerpoint/2010/main" val="1694008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83F94F-2D44-ED1B-9A30-228A516FD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0D9EAA-277E-1CC3-C7E5-D612C6793C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718D02-A5AB-EF22-DB0F-CB98CE9EDC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07818E-CE1B-4AE5-B5DB-4BE4A5FA81EE}" type="datetime1">
              <a:rPr lang="en-US" smtClean="0"/>
              <a:t>1/23/2026</a:t>
            </a:fld>
            <a:endParaRPr lang="en-US"/>
          </a:p>
        </p:txBody>
      </p:sp>
      <p:sp>
        <p:nvSpPr>
          <p:cNvPr id="5" name="Footer Placeholder 4">
            <a:extLst>
              <a:ext uri="{FF2B5EF4-FFF2-40B4-BE49-F238E27FC236}">
                <a16:creationId xmlns:a16="http://schemas.microsoft.com/office/drawing/2014/main" id="{16839FB0-1E46-D2E8-C55D-644D1E95C8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4D0D89-C64F-3CD0-F3B7-FDFDAEB39F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671B5B-E67F-4724-A43C-876866615C7E}" type="slidenum">
              <a:rPr lang="en-US" smtClean="0"/>
              <a:t>‹#›</a:t>
            </a:fld>
            <a:endParaRPr lang="en-US"/>
          </a:p>
        </p:txBody>
      </p:sp>
    </p:spTree>
    <p:extLst>
      <p:ext uri="{BB962C8B-B14F-4D97-AF65-F5344CB8AC3E}">
        <p14:creationId xmlns:p14="http://schemas.microsoft.com/office/powerpoint/2010/main" val="242326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E3A2CAF-E038-D9BB-BA6E-3060B394AC7B}"/>
              </a:ext>
            </a:extLst>
          </p:cNvPr>
          <p:cNvSpPr>
            <a:spLocks noGrp="1"/>
          </p:cNvSpPr>
          <p:nvPr>
            <p:ph type="subTitle" idx="1"/>
          </p:nvPr>
        </p:nvSpPr>
        <p:spPr>
          <a:xfrm>
            <a:off x="1524000" y="4369418"/>
            <a:ext cx="9144000" cy="1466569"/>
          </a:xfrm>
        </p:spPr>
        <p:txBody>
          <a:bodyPr>
            <a:normAutofit/>
          </a:bodyPr>
          <a:lstStyle/>
          <a:p>
            <a:r>
              <a:rPr lang="en-US" sz="1600" dirty="0">
                <a:solidFill>
                  <a:srgbClr val="B43426"/>
                </a:solidFill>
                <a:latin typeface="Montserrat" pitchFamily="2" charset="0"/>
              </a:rPr>
              <a:t>Presentation by</a:t>
            </a:r>
          </a:p>
          <a:p>
            <a:r>
              <a:rPr lang="en-US" sz="1600" b="1" dirty="0">
                <a:solidFill>
                  <a:srgbClr val="B43426"/>
                </a:solidFill>
                <a:latin typeface="Montserrat" pitchFamily="2" charset="0"/>
              </a:rPr>
              <a:t>Konark Karia [AU2544011]</a:t>
            </a:r>
          </a:p>
          <a:p>
            <a:r>
              <a:rPr lang="en-US" sz="1600" b="1" dirty="0">
                <a:solidFill>
                  <a:srgbClr val="B43426"/>
                </a:solidFill>
                <a:latin typeface="Montserrat" pitchFamily="2" charset="0"/>
              </a:rPr>
              <a:t>Megh Patel [AU2544020]</a:t>
            </a:r>
          </a:p>
          <a:p>
            <a:r>
              <a:rPr lang="en-US" sz="1600" b="1" dirty="0">
                <a:solidFill>
                  <a:srgbClr val="B43426"/>
                </a:solidFill>
                <a:latin typeface="Montserrat" pitchFamily="2" charset="0"/>
              </a:rPr>
              <a:t>Hardi Makwana [AU2544013]</a:t>
            </a:r>
            <a:endParaRPr lang="en-US" sz="1600" dirty="0">
              <a:solidFill>
                <a:srgbClr val="B43426"/>
              </a:solidFill>
              <a:latin typeface="Montserrat" pitchFamily="2" charset="0"/>
            </a:endParaRPr>
          </a:p>
          <a:p>
            <a:endParaRPr lang="en-US" sz="1600" dirty="0"/>
          </a:p>
        </p:txBody>
      </p:sp>
      <p:sp>
        <p:nvSpPr>
          <p:cNvPr id="4" name="Rectangle 3">
            <a:extLst>
              <a:ext uri="{FF2B5EF4-FFF2-40B4-BE49-F238E27FC236}">
                <a16:creationId xmlns:a16="http://schemas.microsoft.com/office/drawing/2014/main" id="{633F6F31-9A71-48BD-257D-4131C577F7C8}"/>
              </a:ext>
            </a:extLst>
          </p:cNvPr>
          <p:cNvSpPr/>
          <p:nvPr/>
        </p:nvSpPr>
        <p:spPr>
          <a:xfrm>
            <a:off x="0" y="6400800"/>
            <a:ext cx="12192000" cy="457200"/>
          </a:xfrm>
          <a:prstGeom prst="rect">
            <a:avLst/>
          </a:prstGeom>
          <a:solidFill>
            <a:srgbClr val="B4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ontserrat" pitchFamily="2" charset="0"/>
              </a:rPr>
              <a:t>School of Engineering and Applied Science, Ahmedabad University</a:t>
            </a:r>
            <a:endParaRPr lang="en-US" dirty="0">
              <a:solidFill>
                <a:schemeClr val="bg1"/>
              </a:solidFill>
            </a:endParaRPr>
          </a:p>
        </p:txBody>
      </p:sp>
      <p:sp>
        <p:nvSpPr>
          <p:cNvPr id="5" name="Subtitle 2">
            <a:extLst>
              <a:ext uri="{FF2B5EF4-FFF2-40B4-BE49-F238E27FC236}">
                <a16:creationId xmlns:a16="http://schemas.microsoft.com/office/drawing/2014/main" id="{8B66D1B8-4D2B-3DC3-294B-0ECD46B232DE}"/>
              </a:ext>
            </a:extLst>
          </p:cNvPr>
          <p:cNvSpPr txBox="1">
            <a:spLocks/>
          </p:cNvSpPr>
          <p:nvPr/>
        </p:nvSpPr>
        <p:spPr>
          <a:xfrm>
            <a:off x="1524000" y="6493199"/>
            <a:ext cx="9144000" cy="3648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1600" b="1" dirty="0">
              <a:solidFill>
                <a:schemeClr val="bg1"/>
              </a:solidFill>
              <a:latin typeface="Montserrat" pitchFamily="2" charset="0"/>
            </a:endParaRPr>
          </a:p>
        </p:txBody>
      </p:sp>
      <p:sp>
        <p:nvSpPr>
          <p:cNvPr id="6" name="Title 1">
            <a:extLst>
              <a:ext uri="{FF2B5EF4-FFF2-40B4-BE49-F238E27FC236}">
                <a16:creationId xmlns:a16="http://schemas.microsoft.com/office/drawing/2014/main" id="{3CE9233D-B7B5-CDF4-3322-1F22D130C92D}"/>
              </a:ext>
            </a:extLst>
          </p:cNvPr>
          <p:cNvSpPr txBox="1">
            <a:spLocks/>
          </p:cNvSpPr>
          <p:nvPr/>
        </p:nvSpPr>
        <p:spPr>
          <a:xfrm>
            <a:off x="1524000" y="2045690"/>
            <a:ext cx="9144000" cy="175891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a:solidFill>
                  <a:srgbClr val="B43426"/>
                </a:solidFill>
                <a:latin typeface="Montserrat" pitchFamily="2" charset="0"/>
              </a:rPr>
              <a:t>A Survey of Neural Radiance Fields and Gaussian Splatting in Satellite Remote Sensing</a:t>
            </a:r>
          </a:p>
        </p:txBody>
      </p:sp>
      <p:pic>
        <p:nvPicPr>
          <p:cNvPr id="8" name="Picture 7">
            <a:extLst>
              <a:ext uri="{FF2B5EF4-FFF2-40B4-BE49-F238E27FC236}">
                <a16:creationId xmlns:a16="http://schemas.microsoft.com/office/drawing/2014/main" id="{87B6D855-BA83-ACAB-28C8-16E4EEBBA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7945" y="173580"/>
            <a:ext cx="3636110" cy="1587957"/>
          </a:xfrm>
          <a:prstGeom prst="rect">
            <a:avLst/>
          </a:prstGeom>
        </p:spPr>
      </p:pic>
    </p:spTree>
    <p:extLst>
      <p:ext uri="{BB962C8B-B14F-4D97-AF65-F5344CB8AC3E}">
        <p14:creationId xmlns:p14="http://schemas.microsoft.com/office/powerpoint/2010/main" val="3221370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86907-A3CA-6B56-2DFE-39A432D21EA8}"/>
              </a:ext>
            </a:extLst>
          </p:cNvPr>
          <p:cNvSpPr>
            <a:spLocks noGrp="1"/>
          </p:cNvSpPr>
          <p:nvPr>
            <p:ph type="title"/>
          </p:nvPr>
        </p:nvSpPr>
        <p:spPr/>
        <p:txBody>
          <a:bodyPr/>
          <a:lstStyle/>
          <a:p>
            <a:r>
              <a:rPr lang="en-US" b="1" dirty="0">
                <a:solidFill>
                  <a:srgbClr val="B43426"/>
                </a:solidFill>
                <a:latin typeface="Montserrat" pitchFamily="2" charset="0"/>
              </a:rPr>
              <a:t>Motivation</a:t>
            </a:r>
          </a:p>
        </p:txBody>
      </p:sp>
      <p:sp>
        <p:nvSpPr>
          <p:cNvPr id="3" name="Content Placeholder 2">
            <a:extLst>
              <a:ext uri="{FF2B5EF4-FFF2-40B4-BE49-F238E27FC236}">
                <a16:creationId xmlns:a16="http://schemas.microsoft.com/office/drawing/2014/main" id="{26A8BEDE-6BE0-48B2-4074-7D7BCB98B817}"/>
              </a:ext>
            </a:extLst>
          </p:cNvPr>
          <p:cNvSpPr>
            <a:spLocks noGrp="1"/>
          </p:cNvSpPr>
          <p:nvPr>
            <p:ph idx="1"/>
          </p:nvPr>
        </p:nvSpPr>
        <p:spPr>
          <a:xfrm>
            <a:off x="838200" y="1777334"/>
            <a:ext cx="10515600" cy="4662795"/>
          </a:xfrm>
        </p:spPr>
        <p:txBody>
          <a:bodyPr>
            <a:normAutofit/>
          </a:bodyPr>
          <a:lstStyle/>
          <a:p>
            <a:pPr>
              <a:spcBef>
                <a:spcPts val="2500"/>
              </a:spcBef>
            </a:pPr>
            <a:r>
              <a:rPr lang="en-US" b="1" dirty="0">
                <a:latin typeface="Montserrat" pitchFamily="2" charset="0"/>
              </a:rPr>
              <a:t>Traditional 3D mapping</a:t>
            </a:r>
            <a:r>
              <a:rPr lang="en-US" dirty="0">
                <a:latin typeface="Montserrat" pitchFamily="2" charset="0"/>
              </a:rPr>
              <a:t> often fails on </a:t>
            </a:r>
            <a:r>
              <a:rPr lang="en-US" b="1" dirty="0">
                <a:latin typeface="Montserrat" pitchFamily="2" charset="0"/>
              </a:rPr>
              <a:t>satellite-specific textures, reflections, and deep shadows</a:t>
            </a:r>
            <a:r>
              <a:rPr lang="en-US" dirty="0">
                <a:latin typeface="Montserrat" pitchFamily="2" charset="0"/>
              </a:rPr>
              <a:t> where neural methods excel.</a:t>
            </a:r>
          </a:p>
          <a:p>
            <a:pPr algn="just">
              <a:spcBef>
                <a:spcPts val="2500"/>
              </a:spcBef>
            </a:pPr>
            <a:r>
              <a:rPr lang="en-US" b="1" dirty="0" err="1">
                <a:latin typeface="Montserrat" pitchFamily="2" charset="0"/>
              </a:rPr>
              <a:t>NeRFs</a:t>
            </a:r>
            <a:r>
              <a:rPr lang="en-US" dirty="0">
                <a:latin typeface="Montserrat" pitchFamily="2" charset="0"/>
              </a:rPr>
              <a:t> provide a continuous neural representation that </a:t>
            </a:r>
            <a:r>
              <a:rPr lang="en-US" b="1" dirty="0">
                <a:latin typeface="Montserrat" pitchFamily="2" charset="0"/>
              </a:rPr>
              <a:t>"fills in the gaps"</a:t>
            </a:r>
            <a:r>
              <a:rPr lang="en-US" dirty="0">
                <a:latin typeface="Montserrat" pitchFamily="2" charset="0"/>
              </a:rPr>
              <a:t> to create </a:t>
            </a:r>
            <a:r>
              <a:rPr lang="en-US" b="1" dirty="0">
                <a:latin typeface="Montserrat" pitchFamily="2" charset="0"/>
              </a:rPr>
              <a:t>photorealistic 3D geometry from 2D pixels.</a:t>
            </a:r>
          </a:p>
          <a:p>
            <a:pPr>
              <a:spcBef>
                <a:spcPts val="2500"/>
              </a:spcBef>
            </a:pPr>
            <a:r>
              <a:rPr lang="en-US" b="1" dirty="0">
                <a:latin typeface="Montserrat" pitchFamily="2" charset="0"/>
              </a:rPr>
              <a:t>3D Gaussian Splatting </a:t>
            </a:r>
            <a:r>
              <a:rPr lang="en-US" dirty="0">
                <a:latin typeface="Montserrat" pitchFamily="2" charset="0"/>
              </a:rPr>
              <a:t>provides the critical leap from slow neural training to real-time, high-speed rendering of satellite scenes.</a:t>
            </a:r>
          </a:p>
        </p:txBody>
      </p:sp>
      <p:sp>
        <p:nvSpPr>
          <p:cNvPr id="4" name="Rectangle 3">
            <a:extLst>
              <a:ext uri="{FF2B5EF4-FFF2-40B4-BE49-F238E27FC236}">
                <a16:creationId xmlns:a16="http://schemas.microsoft.com/office/drawing/2014/main" id="{ED5D3902-47A3-0DFC-3E5A-330170CCAD77}"/>
              </a:ext>
            </a:extLst>
          </p:cNvPr>
          <p:cNvSpPr/>
          <p:nvPr/>
        </p:nvSpPr>
        <p:spPr>
          <a:xfrm>
            <a:off x="0" y="6400800"/>
            <a:ext cx="12192000" cy="457200"/>
          </a:xfrm>
          <a:prstGeom prst="rect">
            <a:avLst/>
          </a:prstGeom>
          <a:solidFill>
            <a:srgbClr val="B4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chemeClr val="bg1"/>
                </a:solidFill>
                <a:latin typeface="Montserrat" pitchFamily="2" charset="0"/>
              </a:rPr>
              <a:t>Konark Karia | Megh Patel | Hardi Makwana								</a:t>
            </a:r>
          </a:p>
        </p:txBody>
      </p:sp>
      <p:sp>
        <p:nvSpPr>
          <p:cNvPr id="5" name="Slide Number Placeholder 4">
            <a:extLst>
              <a:ext uri="{FF2B5EF4-FFF2-40B4-BE49-F238E27FC236}">
                <a16:creationId xmlns:a16="http://schemas.microsoft.com/office/drawing/2014/main" id="{D220C813-4BAC-B2F3-31DC-7BF3887E17A9}"/>
              </a:ext>
            </a:extLst>
          </p:cNvPr>
          <p:cNvSpPr>
            <a:spLocks noGrp="1"/>
          </p:cNvSpPr>
          <p:nvPr>
            <p:ph type="sldNum" sz="quarter" idx="12"/>
          </p:nvPr>
        </p:nvSpPr>
        <p:spPr>
          <a:xfrm>
            <a:off x="9377516" y="6440129"/>
            <a:ext cx="2743200" cy="365125"/>
          </a:xfrm>
        </p:spPr>
        <p:txBody>
          <a:bodyPr/>
          <a:lstStyle/>
          <a:p>
            <a:fld id="{9A671B5B-E67F-4724-A43C-876866615C7E}" type="slidenum">
              <a:rPr lang="en-US" sz="1800" smtClean="0">
                <a:solidFill>
                  <a:schemeClr val="bg1"/>
                </a:solidFill>
                <a:latin typeface="Montserrat" pitchFamily="2" charset="0"/>
              </a:rPr>
              <a:t>2</a:t>
            </a:fld>
            <a:endParaRPr lang="en-US" sz="1800" dirty="0">
              <a:solidFill>
                <a:schemeClr val="bg1"/>
              </a:solidFill>
              <a:latin typeface="Montserrat" pitchFamily="2" charset="0"/>
            </a:endParaRPr>
          </a:p>
        </p:txBody>
      </p:sp>
      <p:pic>
        <p:nvPicPr>
          <p:cNvPr id="6" name="Picture 5">
            <a:extLst>
              <a:ext uri="{FF2B5EF4-FFF2-40B4-BE49-F238E27FC236}">
                <a16:creationId xmlns:a16="http://schemas.microsoft.com/office/drawing/2014/main" id="{ECFA7835-9D40-DB13-C24D-056BB8973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1044" y="365125"/>
            <a:ext cx="2939845" cy="1283885"/>
          </a:xfrm>
          <a:prstGeom prst="rect">
            <a:avLst/>
          </a:prstGeom>
        </p:spPr>
      </p:pic>
    </p:spTree>
    <p:extLst>
      <p:ext uri="{BB962C8B-B14F-4D97-AF65-F5344CB8AC3E}">
        <p14:creationId xmlns:p14="http://schemas.microsoft.com/office/powerpoint/2010/main" val="376197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ED70B-7573-112B-1E0D-E16E044815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947E3E-DC76-919D-3A49-1DD4CD8595C1}"/>
              </a:ext>
            </a:extLst>
          </p:cNvPr>
          <p:cNvSpPr>
            <a:spLocks noGrp="1"/>
          </p:cNvSpPr>
          <p:nvPr>
            <p:ph type="title"/>
          </p:nvPr>
        </p:nvSpPr>
        <p:spPr/>
        <p:txBody>
          <a:bodyPr/>
          <a:lstStyle/>
          <a:p>
            <a:r>
              <a:rPr lang="en-US" b="1" dirty="0">
                <a:solidFill>
                  <a:srgbClr val="B43426"/>
                </a:solidFill>
                <a:latin typeface="Montserrat" pitchFamily="2" charset="0"/>
              </a:rPr>
              <a:t>Motivation</a:t>
            </a:r>
          </a:p>
        </p:txBody>
      </p:sp>
      <p:sp>
        <p:nvSpPr>
          <p:cNvPr id="3" name="Content Placeholder 2">
            <a:extLst>
              <a:ext uri="{FF2B5EF4-FFF2-40B4-BE49-F238E27FC236}">
                <a16:creationId xmlns:a16="http://schemas.microsoft.com/office/drawing/2014/main" id="{F0612F52-CBDB-E2D3-3E31-1DE511F14A32}"/>
              </a:ext>
            </a:extLst>
          </p:cNvPr>
          <p:cNvSpPr>
            <a:spLocks noGrp="1"/>
          </p:cNvSpPr>
          <p:nvPr>
            <p:ph idx="1"/>
          </p:nvPr>
        </p:nvSpPr>
        <p:spPr>
          <a:xfrm>
            <a:off x="838200" y="1777334"/>
            <a:ext cx="10515600" cy="4662795"/>
          </a:xfrm>
        </p:spPr>
        <p:txBody>
          <a:bodyPr>
            <a:normAutofit/>
          </a:bodyPr>
          <a:lstStyle/>
          <a:p>
            <a:pPr algn="just">
              <a:spcBef>
                <a:spcPts val="2500"/>
              </a:spcBef>
            </a:pPr>
            <a:r>
              <a:rPr lang="en-US" b="1" dirty="0">
                <a:latin typeface="Montserrat" pitchFamily="2" charset="0"/>
              </a:rPr>
              <a:t>Modern neural models</a:t>
            </a:r>
            <a:r>
              <a:rPr lang="en-US" dirty="0">
                <a:latin typeface="Montserrat" pitchFamily="2" charset="0"/>
              </a:rPr>
              <a:t> can uniquely separate </a:t>
            </a:r>
            <a:r>
              <a:rPr lang="en-US" b="1" dirty="0">
                <a:latin typeface="Montserrat" pitchFamily="2" charset="0"/>
              </a:rPr>
              <a:t>permanent terrain geometry</a:t>
            </a:r>
            <a:r>
              <a:rPr lang="en-US" dirty="0">
                <a:latin typeface="Montserrat" pitchFamily="2" charset="0"/>
              </a:rPr>
              <a:t> from transient atmospheric haze and shifting sun angles.</a:t>
            </a:r>
          </a:p>
          <a:p>
            <a:pPr algn="just">
              <a:spcBef>
                <a:spcPts val="2500"/>
              </a:spcBef>
            </a:pPr>
            <a:r>
              <a:rPr lang="en-US" dirty="0">
                <a:latin typeface="Montserrat" pitchFamily="2" charset="0"/>
              </a:rPr>
              <a:t>These technologies enable the leap from modeling single structures to </a:t>
            </a:r>
            <a:r>
              <a:rPr lang="en-US" b="1" dirty="0">
                <a:latin typeface="Montserrat" pitchFamily="2" charset="0"/>
              </a:rPr>
              <a:t>generating interactive, city-scale "Digital Twins"</a:t>
            </a:r>
            <a:r>
              <a:rPr lang="en-US" dirty="0">
                <a:latin typeface="Montserrat" pitchFamily="2" charset="0"/>
              </a:rPr>
              <a:t> of the Earth.</a:t>
            </a:r>
          </a:p>
          <a:p>
            <a:pPr algn="just">
              <a:spcBef>
                <a:spcPts val="2500"/>
              </a:spcBef>
            </a:pPr>
            <a:r>
              <a:rPr lang="en-US" dirty="0">
                <a:latin typeface="Montserrat" pitchFamily="2" charset="0"/>
              </a:rPr>
              <a:t>This survey categorizes a rapidly expanding field to help researchers select the most efficient architectures for remote sensing.</a:t>
            </a:r>
          </a:p>
        </p:txBody>
      </p:sp>
      <p:sp>
        <p:nvSpPr>
          <p:cNvPr id="4" name="Rectangle 3">
            <a:extLst>
              <a:ext uri="{FF2B5EF4-FFF2-40B4-BE49-F238E27FC236}">
                <a16:creationId xmlns:a16="http://schemas.microsoft.com/office/drawing/2014/main" id="{A8DA9C6B-8F26-69D7-24D6-805B78C2BB2A}"/>
              </a:ext>
            </a:extLst>
          </p:cNvPr>
          <p:cNvSpPr/>
          <p:nvPr/>
        </p:nvSpPr>
        <p:spPr>
          <a:xfrm>
            <a:off x="0" y="6400800"/>
            <a:ext cx="12192000" cy="457200"/>
          </a:xfrm>
          <a:prstGeom prst="rect">
            <a:avLst/>
          </a:prstGeom>
          <a:solidFill>
            <a:srgbClr val="B4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chemeClr val="bg1"/>
                </a:solidFill>
                <a:latin typeface="Montserrat" pitchFamily="2" charset="0"/>
              </a:rPr>
              <a:t>Konark Karia | Megh Patel | Hardi Makwana								</a:t>
            </a:r>
          </a:p>
        </p:txBody>
      </p:sp>
      <p:sp>
        <p:nvSpPr>
          <p:cNvPr id="5" name="Slide Number Placeholder 4">
            <a:extLst>
              <a:ext uri="{FF2B5EF4-FFF2-40B4-BE49-F238E27FC236}">
                <a16:creationId xmlns:a16="http://schemas.microsoft.com/office/drawing/2014/main" id="{0DEB894D-8878-BC7E-4522-E8A1C0E242C9}"/>
              </a:ext>
            </a:extLst>
          </p:cNvPr>
          <p:cNvSpPr>
            <a:spLocks noGrp="1"/>
          </p:cNvSpPr>
          <p:nvPr>
            <p:ph type="sldNum" sz="quarter" idx="12"/>
          </p:nvPr>
        </p:nvSpPr>
        <p:spPr>
          <a:xfrm>
            <a:off x="9377516" y="6440129"/>
            <a:ext cx="2743200" cy="365125"/>
          </a:xfrm>
        </p:spPr>
        <p:txBody>
          <a:bodyPr/>
          <a:lstStyle/>
          <a:p>
            <a:fld id="{9A671B5B-E67F-4724-A43C-876866615C7E}" type="slidenum">
              <a:rPr lang="en-US" sz="1800" smtClean="0">
                <a:solidFill>
                  <a:schemeClr val="bg1"/>
                </a:solidFill>
                <a:latin typeface="Montserrat" pitchFamily="2" charset="0"/>
              </a:rPr>
              <a:t>3</a:t>
            </a:fld>
            <a:endParaRPr lang="en-US" sz="1800" dirty="0">
              <a:solidFill>
                <a:schemeClr val="bg1"/>
              </a:solidFill>
              <a:latin typeface="Montserrat" pitchFamily="2" charset="0"/>
            </a:endParaRPr>
          </a:p>
        </p:txBody>
      </p:sp>
      <p:pic>
        <p:nvPicPr>
          <p:cNvPr id="6" name="Picture 5">
            <a:extLst>
              <a:ext uri="{FF2B5EF4-FFF2-40B4-BE49-F238E27FC236}">
                <a16:creationId xmlns:a16="http://schemas.microsoft.com/office/drawing/2014/main" id="{72BD9DC1-16B6-9BEA-924C-3ED342B634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1044" y="365125"/>
            <a:ext cx="2939845" cy="1283885"/>
          </a:xfrm>
          <a:prstGeom prst="rect">
            <a:avLst/>
          </a:prstGeom>
        </p:spPr>
      </p:pic>
    </p:spTree>
    <p:extLst>
      <p:ext uri="{BB962C8B-B14F-4D97-AF65-F5344CB8AC3E}">
        <p14:creationId xmlns:p14="http://schemas.microsoft.com/office/powerpoint/2010/main" val="1424457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33691-EA88-0A45-BAF4-EFB63266E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7F945-9B4C-DCCF-0461-C3B394B3BED3}"/>
              </a:ext>
            </a:extLst>
          </p:cNvPr>
          <p:cNvSpPr>
            <a:spLocks noGrp="1"/>
          </p:cNvSpPr>
          <p:nvPr>
            <p:ph type="title"/>
          </p:nvPr>
        </p:nvSpPr>
        <p:spPr/>
        <p:txBody>
          <a:bodyPr/>
          <a:lstStyle/>
          <a:p>
            <a:r>
              <a:rPr lang="en-US" b="1" dirty="0">
                <a:solidFill>
                  <a:srgbClr val="B43426"/>
                </a:solidFill>
                <a:latin typeface="Montserrat" pitchFamily="2" charset="0"/>
              </a:rPr>
              <a:t>Search Results</a:t>
            </a:r>
          </a:p>
        </p:txBody>
      </p:sp>
      <p:sp>
        <p:nvSpPr>
          <p:cNvPr id="4" name="Rectangle 3">
            <a:extLst>
              <a:ext uri="{FF2B5EF4-FFF2-40B4-BE49-F238E27FC236}">
                <a16:creationId xmlns:a16="http://schemas.microsoft.com/office/drawing/2014/main" id="{8A334F33-643C-D628-5CA2-6DF2D56E1CEB}"/>
              </a:ext>
            </a:extLst>
          </p:cNvPr>
          <p:cNvSpPr/>
          <p:nvPr/>
        </p:nvSpPr>
        <p:spPr>
          <a:xfrm>
            <a:off x="0" y="6400800"/>
            <a:ext cx="12192000" cy="457200"/>
          </a:xfrm>
          <a:prstGeom prst="rect">
            <a:avLst/>
          </a:prstGeom>
          <a:solidFill>
            <a:srgbClr val="B4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chemeClr val="bg1"/>
                </a:solidFill>
                <a:latin typeface="Montserrat" pitchFamily="2" charset="0"/>
              </a:rPr>
              <a:t>Konark Karia | Megh Patel | Hardi Makwana								</a:t>
            </a:r>
          </a:p>
        </p:txBody>
      </p:sp>
      <p:sp>
        <p:nvSpPr>
          <p:cNvPr id="5" name="Slide Number Placeholder 4">
            <a:extLst>
              <a:ext uri="{FF2B5EF4-FFF2-40B4-BE49-F238E27FC236}">
                <a16:creationId xmlns:a16="http://schemas.microsoft.com/office/drawing/2014/main" id="{84418868-B9EE-C2EB-D77F-B04EBC1B21F9}"/>
              </a:ext>
            </a:extLst>
          </p:cNvPr>
          <p:cNvSpPr>
            <a:spLocks noGrp="1"/>
          </p:cNvSpPr>
          <p:nvPr>
            <p:ph type="sldNum" sz="quarter" idx="12"/>
          </p:nvPr>
        </p:nvSpPr>
        <p:spPr>
          <a:xfrm>
            <a:off x="9377516" y="6440129"/>
            <a:ext cx="2743200" cy="365125"/>
          </a:xfrm>
        </p:spPr>
        <p:txBody>
          <a:bodyPr/>
          <a:lstStyle/>
          <a:p>
            <a:fld id="{9A671B5B-E67F-4724-A43C-876866615C7E}" type="slidenum">
              <a:rPr lang="en-US" sz="1800" smtClean="0">
                <a:solidFill>
                  <a:schemeClr val="bg1"/>
                </a:solidFill>
                <a:latin typeface="Montserrat" pitchFamily="2" charset="0"/>
              </a:rPr>
              <a:t>4</a:t>
            </a:fld>
            <a:endParaRPr lang="en-US" sz="1800" dirty="0">
              <a:solidFill>
                <a:schemeClr val="bg1"/>
              </a:solidFill>
              <a:latin typeface="Montserrat" pitchFamily="2" charset="0"/>
            </a:endParaRPr>
          </a:p>
        </p:txBody>
      </p:sp>
      <p:pic>
        <p:nvPicPr>
          <p:cNvPr id="6" name="Picture 5">
            <a:extLst>
              <a:ext uri="{FF2B5EF4-FFF2-40B4-BE49-F238E27FC236}">
                <a16:creationId xmlns:a16="http://schemas.microsoft.com/office/drawing/2014/main" id="{C3E370D5-65DF-2515-BBCF-89F131659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1044" y="365125"/>
            <a:ext cx="2939845" cy="1283885"/>
          </a:xfrm>
          <a:prstGeom prst="rect">
            <a:avLst/>
          </a:prstGeom>
        </p:spPr>
      </p:pic>
      <p:pic>
        <p:nvPicPr>
          <p:cNvPr id="9" name="Content Placeholder 8">
            <a:extLst>
              <a:ext uri="{FF2B5EF4-FFF2-40B4-BE49-F238E27FC236}">
                <a16:creationId xmlns:a16="http://schemas.microsoft.com/office/drawing/2014/main" id="{917845CE-F22E-57EC-0989-EA26030F05EB}"/>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2" t="995" r="21409" b="-995"/>
          <a:stretch>
            <a:fillRect/>
          </a:stretch>
        </p:blipFill>
        <p:spPr bwMode="auto">
          <a:xfrm>
            <a:off x="838200" y="1649010"/>
            <a:ext cx="6228000" cy="43239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0EE8D9D-624B-B448-EBF5-A535E4B72FF8}"/>
              </a:ext>
            </a:extLst>
          </p:cNvPr>
          <p:cNvSpPr txBox="1"/>
          <p:nvPr/>
        </p:nvSpPr>
        <p:spPr>
          <a:xfrm>
            <a:off x="7686368" y="2076831"/>
            <a:ext cx="3984521" cy="3416320"/>
          </a:xfrm>
          <a:prstGeom prst="rect">
            <a:avLst/>
          </a:prstGeom>
          <a:noFill/>
        </p:spPr>
        <p:txBody>
          <a:bodyPr wrap="square">
            <a:spAutoFit/>
          </a:bodyPr>
          <a:lstStyle/>
          <a:p>
            <a:r>
              <a:rPr lang="en-US" sz="2400" b="1" dirty="0">
                <a:latin typeface="Montserrat" pitchFamily="2" charset="0"/>
              </a:rPr>
              <a:t>Total Results Found : </a:t>
            </a:r>
            <a:r>
              <a:rPr lang="en-US" sz="2400" dirty="0">
                <a:latin typeface="Montserrat" pitchFamily="2" charset="0"/>
              </a:rPr>
              <a:t>41</a:t>
            </a:r>
          </a:p>
          <a:p>
            <a:endParaRPr lang="en-US" sz="2400" dirty="0">
              <a:latin typeface="Montserrat" pitchFamily="2" charset="0"/>
            </a:endParaRPr>
          </a:p>
          <a:p>
            <a:r>
              <a:rPr lang="en-US" sz="2400" b="1" dirty="0">
                <a:latin typeface="Montserrat" pitchFamily="2" charset="0"/>
              </a:rPr>
              <a:t>Average Citations :</a:t>
            </a:r>
            <a:r>
              <a:rPr lang="en-US" sz="2400" dirty="0">
                <a:latin typeface="Montserrat" pitchFamily="2" charset="0"/>
              </a:rPr>
              <a:t> ~1.5</a:t>
            </a:r>
          </a:p>
          <a:p>
            <a:endParaRPr lang="en-US" sz="2400" dirty="0">
              <a:latin typeface="Montserrat" pitchFamily="2" charset="0"/>
            </a:endParaRPr>
          </a:p>
          <a:p>
            <a:r>
              <a:rPr lang="en-US" sz="2400" b="1" dirty="0">
                <a:latin typeface="Montserrat" pitchFamily="2" charset="0"/>
              </a:rPr>
              <a:t>Keywords used:</a:t>
            </a:r>
            <a:endParaRPr lang="en-US" sz="2400" dirty="0">
              <a:latin typeface="Montserrat" pitchFamily="2" charset="0"/>
            </a:endParaRPr>
          </a:p>
          <a:p>
            <a:pPr marL="285750" indent="-285750">
              <a:buFont typeface="Arial" panose="020B0604020202020204" pitchFamily="34" charset="0"/>
              <a:buChar char="•"/>
            </a:pPr>
            <a:r>
              <a:rPr lang="en-US" sz="2400" dirty="0">
                <a:latin typeface="Montserrat" pitchFamily="2" charset="0"/>
              </a:rPr>
              <a:t>Satellite Imagery</a:t>
            </a:r>
          </a:p>
          <a:p>
            <a:pPr marL="285750" indent="-285750">
              <a:buFont typeface="Arial" panose="020B0604020202020204" pitchFamily="34" charset="0"/>
              <a:buChar char="•"/>
            </a:pPr>
            <a:r>
              <a:rPr lang="en-US" sz="2400" dirty="0" err="1">
                <a:latin typeface="Montserrat" pitchFamily="2" charset="0"/>
              </a:rPr>
              <a:t>NeRFs</a:t>
            </a:r>
            <a:endParaRPr lang="en-US" sz="2400" dirty="0">
              <a:latin typeface="Montserrat" pitchFamily="2" charset="0"/>
            </a:endParaRPr>
          </a:p>
          <a:p>
            <a:pPr marL="285750" indent="-285750">
              <a:buFont typeface="Arial" panose="020B0604020202020204" pitchFamily="34" charset="0"/>
              <a:buChar char="•"/>
            </a:pPr>
            <a:r>
              <a:rPr lang="en-US" sz="2400" dirty="0">
                <a:latin typeface="Montserrat" pitchFamily="2" charset="0"/>
              </a:rPr>
              <a:t>Gaussian Splatting</a:t>
            </a:r>
          </a:p>
          <a:p>
            <a:pPr marL="285750" indent="-285750">
              <a:buFont typeface="Arial" panose="020B0604020202020204" pitchFamily="34" charset="0"/>
              <a:buChar char="•"/>
            </a:pPr>
            <a:r>
              <a:rPr lang="en-US" sz="2400" dirty="0">
                <a:latin typeface="Montserrat" pitchFamily="2" charset="0"/>
              </a:rPr>
              <a:t>Remote Sensing</a:t>
            </a:r>
          </a:p>
        </p:txBody>
      </p:sp>
    </p:spTree>
    <p:extLst>
      <p:ext uri="{BB962C8B-B14F-4D97-AF65-F5344CB8AC3E}">
        <p14:creationId xmlns:p14="http://schemas.microsoft.com/office/powerpoint/2010/main" val="1677821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36732-434E-B67A-B606-2EAA61D62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B46261-BEC5-D15D-51A9-E42D295038DE}"/>
              </a:ext>
            </a:extLst>
          </p:cNvPr>
          <p:cNvSpPr>
            <a:spLocks noGrp="1"/>
          </p:cNvSpPr>
          <p:nvPr>
            <p:ph type="title"/>
          </p:nvPr>
        </p:nvSpPr>
        <p:spPr/>
        <p:txBody>
          <a:bodyPr/>
          <a:lstStyle/>
          <a:p>
            <a:r>
              <a:rPr lang="en-US" b="1" dirty="0">
                <a:solidFill>
                  <a:srgbClr val="B43426"/>
                </a:solidFill>
                <a:latin typeface="Montserrat" pitchFamily="2" charset="0"/>
              </a:rPr>
              <a:t>Research Paper</a:t>
            </a:r>
          </a:p>
        </p:txBody>
      </p:sp>
      <p:sp>
        <p:nvSpPr>
          <p:cNvPr id="3" name="Content Placeholder 2">
            <a:extLst>
              <a:ext uri="{FF2B5EF4-FFF2-40B4-BE49-F238E27FC236}">
                <a16:creationId xmlns:a16="http://schemas.microsoft.com/office/drawing/2014/main" id="{0CAB64F1-BD7B-446B-6D15-FD4FBF3128D9}"/>
              </a:ext>
            </a:extLst>
          </p:cNvPr>
          <p:cNvSpPr>
            <a:spLocks noGrp="1"/>
          </p:cNvSpPr>
          <p:nvPr>
            <p:ph idx="1"/>
          </p:nvPr>
        </p:nvSpPr>
        <p:spPr>
          <a:xfrm>
            <a:off x="838200" y="1777334"/>
            <a:ext cx="10515600" cy="4662795"/>
          </a:xfrm>
        </p:spPr>
        <p:txBody>
          <a:bodyPr>
            <a:normAutofit/>
          </a:bodyPr>
          <a:lstStyle/>
          <a:p>
            <a:pPr algn="just">
              <a:spcBef>
                <a:spcPts val="2500"/>
              </a:spcBef>
            </a:pPr>
            <a:r>
              <a:rPr lang="en-US" b="1" dirty="0">
                <a:latin typeface="Montserrat" pitchFamily="2" charset="0"/>
              </a:rPr>
              <a:t>Our Current Survey is being carried on the following papers:</a:t>
            </a:r>
          </a:p>
          <a:p>
            <a:pPr lvl="1" algn="just">
              <a:spcBef>
                <a:spcPts val="2500"/>
              </a:spcBef>
            </a:pPr>
            <a:r>
              <a:rPr lang="en-US" b="1" dirty="0"/>
              <a:t>Ortho-</a:t>
            </a:r>
            <a:r>
              <a:rPr lang="en-US" b="1" dirty="0" err="1"/>
              <a:t>NeRF</a:t>
            </a:r>
            <a:r>
              <a:rPr lang="en-US" b="1" dirty="0"/>
              <a:t>: generating a true digital orthophoto map using the neural radiance field from unmanned aerial vehicle images [Taylor &amp; Francis (under Informa UK Limited, trading as Taylor &amp; Francis Group) 2024] [Q1] : </a:t>
            </a:r>
            <a:r>
              <a:rPr lang="en-US" dirty="0"/>
              <a:t>Noise Correction in Drone Images and Improvements in </a:t>
            </a:r>
            <a:r>
              <a:rPr lang="en-US" dirty="0" err="1"/>
              <a:t>NeRF</a:t>
            </a:r>
            <a:r>
              <a:rPr lang="en-US" dirty="0"/>
              <a:t>, and correction of Sheared Images.</a:t>
            </a:r>
          </a:p>
          <a:p>
            <a:pPr lvl="1" algn="just">
              <a:spcBef>
                <a:spcPts val="2500"/>
              </a:spcBef>
            </a:pPr>
            <a:r>
              <a:rPr lang="en-US" b="1" dirty="0"/>
              <a:t>Cross-View Geo-Localization via 3D Gaussian Splatting-Based Novel View Synthesis [Remote Sensing, MDPI 2025] [Q1] :</a:t>
            </a:r>
            <a:r>
              <a:rPr lang="en-US" dirty="0"/>
              <a:t> Enhancing Cross View </a:t>
            </a:r>
            <a:r>
              <a:rPr lang="en-US" dirty="0" err="1"/>
              <a:t>Geolocalization</a:t>
            </a:r>
            <a:r>
              <a:rPr lang="en-US" dirty="0"/>
              <a:t> using 3D Gaussian Splatting based Novel View Synthesis.</a:t>
            </a:r>
            <a:endParaRPr lang="en-US" dirty="0">
              <a:latin typeface="Montserrat" pitchFamily="2" charset="0"/>
            </a:endParaRPr>
          </a:p>
        </p:txBody>
      </p:sp>
      <p:sp>
        <p:nvSpPr>
          <p:cNvPr id="4" name="Rectangle 3">
            <a:extLst>
              <a:ext uri="{FF2B5EF4-FFF2-40B4-BE49-F238E27FC236}">
                <a16:creationId xmlns:a16="http://schemas.microsoft.com/office/drawing/2014/main" id="{E948DCF3-8799-C71B-C711-4B12A9BAC635}"/>
              </a:ext>
            </a:extLst>
          </p:cNvPr>
          <p:cNvSpPr/>
          <p:nvPr/>
        </p:nvSpPr>
        <p:spPr>
          <a:xfrm>
            <a:off x="0" y="6400800"/>
            <a:ext cx="12192000" cy="457200"/>
          </a:xfrm>
          <a:prstGeom prst="rect">
            <a:avLst/>
          </a:prstGeom>
          <a:solidFill>
            <a:srgbClr val="B4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chemeClr val="bg1"/>
                </a:solidFill>
                <a:latin typeface="Montserrat" pitchFamily="2" charset="0"/>
              </a:rPr>
              <a:t>Konark Karia | Megh Patel | Hardi Makwana								</a:t>
            </a:r>
          </a:p>
        </p:txBody>
      </p:sp>
      <p:sp>
        <p:nvSpPr>
          <p:cNvPr id="5" name="Slide Number Placeholder 4">
            <a:extLst>
              <a:ext uri="{FF2B5EF4-FFF2-40B4-BE49-F238E27FC236}">
                <a16:creationId xmlns:a16="http://schemas.microsoft.com/office/drawing/2014/main" id="{411D9C68-2C41-617E-94B3-AD1DF037E598}"/>
              </a:ext>
            </a:extLst>
          </p:cNvPr>
          <p:cNvSpPr>
            <a:spLocks noGrp="1"/>
          </p:cNvSpPr>
          <p:nvPr>
            <p:ph type="sldNum" sz="quarter" idx="12"/>
          </p:nvPr>
        </p:nvSpPr>
        <p:spPr>
          <a:xfrm>
            <a:off x="9377516" y="6440129"/>
            <a:ext cx="2743200" cy="365125"/>
          </a:xfrm>
        </p:spPr>
        <p:txBody>
          <a:bodyPr/>
          <a:lstStyle/>
          <a:p>
            <a:fld id="{9A671B5B-E67F-4724-A43C-876866615C7E}" type="slidenum">
              <a:rPr lang="en-US" sz="1800" smtClean="0">
                <a:solidFill>
                  <a:schemeClr val="bg1"/>
                </a:solidFill>
                <a:latin typeface="Montserrat" pitchFamily="2" charset="0"/>
              </a:rPr>
              <a:t>5</a:t>
            </a:fld>
            <a:endParaRPr lang="en-US" sz="1800" dirty="0">
              <a:solidFill>
                <a:schemeClr val="bg1"/>
              </a:solidFill>
              <a:latin typeface="Montserrat" pitchFamily="2" charset="0"/>
            </a:endParaRPr>
          </a:p>
        </p:txBody>
      </p:sp>
      <p:pic>
        <p:nvPicPr>
          <p:cNvPr id="6" name="Picture 5">
            <a:extLst>
              <a:ext uri="{FF2B5EF4-FFF2-40B4-BE49-F238E27FC236}">
                <a16:creationId xmlns:a16="http://schemas.microsoft.com/office/drawing/2014/main" id="{544F6427-ABFB-B54A-C9DC-F07B3A1DA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1044" y="365125"/>
            <a:ext cx="2939845" cy="1283885"/>
          </a:xfrm>
          <a:prstGeom prst="rect">
            <a:avLst/>
          </a:prstGeom>
        </p:spPr>
      </p:pic>
    </p:spTree>
    <p:extLst>
      <p:ext uri="{BB962C8B-B14F-4D97-AF65-F5344CB8AC3E}">
        <p14:creationId xmlns:p14="http://schemas.microsoft.com/office/powerpoint/2010/main" val="207433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A34EA-6ADC-E813-F059-0CB2A4C5E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64E9A-9D1A-FED6-52EF-26F0E7AC9295}"/>
              </a:ext>
            </a:extLst>
          </p:cNvPr>
          <p:cNvSpPr>
            <a:spLocks noGrp="1"/>
          </p:cNvSpPr>
          <p:nvPr>
            <p:ph type="title"/>
          </p:nvPr>
        </p:nvSpPr>
        <p:spPr/>
        <p:txBody>
          <a:bodyPr/>
          <a:lstStyle/>
          <a:p>
            <a:r>
              <a:rPr lang="en-US" b="1" dirty="0">
                <a:solidFill>
                  <a:srgbClr val="B43426"/>
                </a:solidFill>
                <a:latin typeface="Montserrat" pitchFamily="2" charset="0"/>
              </a:rPr>
              <a:t>Research Paper</a:t>
            </a:r>
          </a:p>
        </p:txBody>
      </p:sp>
      <p:sp>
        <p:nvSpPr>
          <p:cNvPr id="3" name="Content Placeholder 2">
            <a:extLst>
              <a:ext uri="{FF2B5EF4-FFF2-40B4-BE49-F238E27FC236}">
                <a16:creationId xmlns:a16="http://schemas.microsoft.com/office/drawing/2014/main" id="{E99038FF-F4C7-DA8A-2DFC-7A7318D2D82F}"/>
              </a:ext>
            </a:extLst>
          </p:cNvPr>
          <p:cNvSpPr>
            <a:spLocks noGrp="1"/>
          </p:cNvSpPr>
          <p:nvPr>
            <p:ph idx="1"/>
          </p:nvPr>
        </p:nvSpPr>
        <p:spPr>
          <a:xfrm>
            <a:off x="838200" y="1777334"/>
            <a:ext cx="10515600" cy="4662795"/>
          </a:xfrm>
        </p:spPr>
        <p:txBody>
          <a:bodyPr>
            <a:normAutofit/>
          </a:bodyPr>
          <a:lstStyle/>
          <a:p>
            <a:pPr algn="just">
              <a:spcBef>
                <a:spcPts val="2500"/>
              </a:spcBef>
            </a:pPr>
            <a:r>
              <a:rPr lang="en-US" b="1" dirty="0">
                <a:latin typeface="Montserrat" pitchFamily="2" charset="0"/>
              </a:rPr>
              <a:t>Our Current Survey is being carried on the following papers:</a:t>
            </a:r>
            <a:endParaRPr lang="en-US" dirty="0"/>
          </a:p>
          <a:p>
            <a:pPr lvl="1" algn="just">
              <a:spcBef>
                <a:spcPts val="2500"/>
              </a:spcBef>
            </a:pPr>
            <a:r>
              <a:rPr lang="en-US" b="1" dirty="0" err="1"/>
              <a:t>SatGS</a:t>
            </a:r>
            <a:r>
              <a:rPr lang="en-US" b="1" dirty="0"/>
              <a:t>: Remote Sensing Novel View Synthesis Using Multi- Temporal Satellite Images with Appearance-Adaptive 3DGS [Remote Sensing, MDPI 2025] [Q1] :</a:t>
            </a:r>
            <a:r>
              <a:rPr lang="en-US" dirty="0"/>
              <a:t> </a:t>
            </a:r>
            <a:r>
              <a:rPr lang="en-US" dirty="0" err="1"/>
              <a:t>SatGS</a:t>
            </a:r>
            <a:r>
              <a:rPr lang="en-US" dirty="0"/>
              <a:t> improves 3D satellite mapping by automatically fixing seasonal color changes, accurately placing shadows based on the sun's position, and 'erasing' moving objects like cars, making it faster and clearer than previous methods.</a:t>
            </a:r>
            <a:endParaRPr lang="en-US" dirty="0">
              <a:latin typeface="Montserrat" pitchFamily="2" charset="0"/>
            </a:endParaRPr>
          </a:p>
        </p:txBody>
      </p:sp>
      <p:sp>
        <p:nvSpPr>
          <p:cNvPr id="4" name="Rectangle 3">
            <a:extLst>
              <a:ext uri="{FF2B5EF4-FFF2-40B4-BE49-F238E27FC236}">
                <a16:creationId xmlns:a16="http://schemas.microsoft.com/office/drawing/2014/main" id="{CE76A1F6-AF07-BF4B-10EC-C35F1426FF7B}"/>
              </a:ext>
            </a:extLst>
          </p:cNvPr>
          <p:cNvSpPr/>
          <p:nvPr/>
        </p:nvSpPr>
        <p:spPr>
          <a:xfrm>
            <a:off x="0" y="6400800"/>
            <a:ext cx="12192000" cy="457200"/>
          </a:xfrm>
          <a:prstGeom prst="rect">
            <a:avLst/>
          </a:prstGeom>
          <a:solidFill>
            <a:srgbClr val="B4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chemeClr val="bg1"/>
                </a:solidFill>
                <a:latin typeface="Montserrat" pitchFamily="2" charset="0"/>
              </a:rPr>
              <a:t>Konark Karia | Megh Patel | Hardi Makwana								</a:t>
            </a:r>
          </a:p>
        </p:txBody>
      </p:sp>
      <p:sp>
        <p:nvSpPr>
          <p:cNvPr id="5" name="Slide Number Placeholder 4">
            <a:extLst>
              <a:ext uri="{FF2B5EF4-FFF2-40B4-BE49-F238E27FC236}">
                <a16:creationId xmlns:a16="http://schemas.microsoft.com/office/drawing/2014/main" id="{7F5E1B93-6E1F-1A47-5DAD-B13E80B12683}"/>
              </a:ext>
            </a:extLst>
          </p:cNvPr>
          <p:cNvSpPr>
            <a:spLocks noGrp="1"/>
          </p:cNvSpPr>
          <p:nvPr>
            <p:ph type="sldNum" sz="quarter" idx="12"/>
          </p:nvPr>
        </p:nvSpPr>
        <p:spPr>
          <a:xfrm>
            <a:off x="9377516" y="6440129"/>
            <a:ext cx="2743200" cy="365125"/>
          </a:xfrm>
        </p:spPr>
        <p:txBody>
          <a:bodyPr/>
          <a:lstStyle/>
          <a:p>
            <a:fld id="{9A671B5B-E67F-4724-A43C-876866615C7E}" type="slidenum">
              <a:rPr lang="en-US" sz="1800" smtClean="0">
                <a:solidFill>
                  <a:schemeClr val="bg1"/>
                </a:solidFill>
                <a:latin typeface="Montserrat" pitchFamily="2" charset="0"/>
              </a:rPr>
              <a:t>6</a:t>
            </a:fld>
            <a:endParaRPr lang="en-US" sz="1800" dirty="0">
              <a:solidFill>
                <a:schemeClr val="bg1"/>
              </a:solidFill>
              <a:latin typeface="Montserrat" pitchFamily="2" charset="0"/>
            </a:endParaRPr>
          </a:p>
        </p:txBody>
      </p:sp>
      <p:pic>
        <p:nvPicPr>
          <p:cNvPr id="6" name="Picture 5">
            <a:extLst>
              <a:ext uri="{FF2B5EF4-FFF2-40B4-BE49-F238E27FC236}">
                <a16:creationId xmlns:a16="http://schemas.microsoft.com/office/drawing/2014/main" id="{892CB9B9-7A79-1CEC-959C-DF8AC16F6A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1044" y="365125"/>
            <a:ext cx="2939845" cy="1283885"/>
          </a:xfrm>
          <a:prstGeom prst="rect">
            <a:avLst/>
          </a:prstGeom>
        </p:spPr>
      </p:pic>
    </p:spTree>
    <p:extLst>
      <p:ext uri="{BB962C8B-B14F-4D97-AF65-F5344CB8AC3E}">
        <p14:creationId xmlns:p14="http://schemas.microsoft.com/office/powerpoint/2010/main" val="79692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448</Words>
  <Application>Microsoft Office PowerPoint</Application>
  <PresentationFormat>Widescreen</PresentationFormat>
  <Paragraphs>41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Montserrat</vt:lpstr>
      <vt:lpstr>Office Theme</vt:lpstr>
      <vt:lpstr>PowerPoint Presentation</vt:lpstr>
      <vt:lpstr>Motivation</vt:lpstr>
      <vt:lpstr>Motivation</vt:lpstr>
      <vt:lpstr>Search Results</vt:lpstr>
      <vt:lpstr>Research Paper</vt:lpstr>
      <vt:lpstr>Research Paper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Megh Patel</dc:creator>
  <cp:lastModifiedBy>Megh Patel</cp:lastModifiedBy>
  <cp:revision>28</cp:revision>
  <dcterms:created xsi:type="dcterms:W3CDTF">2026-01-19T08:03:29Z</dcterms:created>
  <dcterms:modified xsi:type="dcterms:W3CDTF">2026-01-23T07:52:57Z</dcterms:modified>
</cp:coreProperties>
</file>